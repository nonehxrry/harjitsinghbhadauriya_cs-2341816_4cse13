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Platypi Medium" panose="020B0604020202020204" charset="0"/>
      <p:regular r:id="rId14"/>
    </p:embeddedFont>
    <p:embeddedFont>
      <p:font typeface="Source Serif 4" panose="020B0604020202020204" charset="0"/>
      <p:regular r:id="rId15"/>
    </p:embeddedFont>
    <p:embeddedFont>
      <p:font typeface="Source Serif 4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1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9529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Summer Internship Evaluation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5233360" y="241776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Software Engineering Intern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0066CC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IILM University, Greater Noida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· School of Computer Science and Engineering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233360" y="3920331"/>
            <a:ext cx="3124059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Student: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HARJIT SINGH BHADAURIYA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Roll No: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CS-2341816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Program: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B.Tech CSE | 7th Semester | </a:t>
            </a:r>
            <a:r>
              <a:rPr lang="en-US" sz="150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Batch:</a:t>
            </a:r>
            <a:r>
              <a:rPr lang="en-US" sz="1450" b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2026–27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618719" y="3920331"/>
            <a:ext cx="291785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Organization: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Code-B Solutions Pvt. Ltd.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Duration: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March 2026 – August 2026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Role: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Java Backend &amp; Cloud Engineering Intern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799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57808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Overview</a:t>
            </a:r>
            <a:endParaRPr lang="en-US" sz="30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41326"/>
            <a:ext cx="6296860" cy="90219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13187" y="1416844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Organization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13187" y="1739106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Code-B Solutions Pvt. Ltd., Mumbai (Remote)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273102"/>
            <a:ext cx="6296860" cy="90219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13187" y="2448620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Role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913187" y="2770882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Backend &amp; Cloud Engineering Intern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04877"/>
            <a:ext cx="6296860" cy="9021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13187" y="3480395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Duration</a:t>
            </a: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913187" y="3802658"/>
            <a:ext cx="586963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March 2026 – August 2026 · </a:t>
            </a: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6 Months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336653"/>
            <a:ext cx="6296860" cy="113109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13187" y="4512171"/>
            <a:ext cx="586963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Primary Focus</a:t>
            </a:r>
            <a:endParaRPr lang="en-US" sz="1500" dirty="0"/>
          </a:p>
        </p:txBody>
      </p:sp>
      <p:sp>
        <p:nvSpPr>
          <p:cNvPr id="16" name="Text 9"/>
          <p:cNvSpPr/>
          <p:nvPr/>
        </p:nvSpPr>
        <p:spPr>
          <a:xfrm>
            <a:off x="913187" y="4834434"/>
            <a:ext cx="586963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Backend development, REST API design, cloud deployment, and DevOps practices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61475" y="5613499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i="1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Bridging academic concepts with production-oriented software engineering — designing, developing, testing, and deploying scalable backend services using Java and Spring Boot.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338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Internship Objectives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02445"/>
            <a:ext cx="3509081" cy="3509169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0721" y="1641475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700420" y="1676301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5232468" y="1705372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Strengthen Java &amp; OOP Design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232468" y="2179241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Deepen programming fundamentals and object-oriented principles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630721" y="2840831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4700420" y="2875657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2</a:t>
            </a:r>
            <a:endParaRPr lang="en-US" sz="2150" dirty="0"/>
          </a:p>
        </p:txBody>
      </p:sp>
      <p:sp>
        <p:nvSpPr>
          <p:cNvPr id="10" name="Text 7"/>
          <p:cNvSpPr/>
          <p:nvPr/>
        </p:nvSpPr>
        <p:spPr>
          <a:xfrm>
            <a:off x="5232468" y="2904728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Production-Grade REST APIs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232468" y="3378597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Build APIs using Spring Boot with real-world reliability standards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4630721" y="4040188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700420" y="4075013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</a:t>
            </a:r>
            <a:endParaRPr lang="en-US" sz="2150" dirty="0"/>
          </a:p>
        </p:txBody>
      </p:sp>
      <p:sp>
        <p:nvSpPr>
          <p:cNvPr id="14" name="Text 11"/>
          <p:cNvSpPr/>
          <p:nvPr/>
        </p:nvSpPr>
        <p:spPr>
          <a:xfrm>
            <a:off x="5232468" y="4104084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Scalable Backend Architecture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232468" y="4577953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Understand distributed systems and scalable service design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4630721" y="5239544"/>
            <a:ext cx="418593" cy="418604"/>
          </a:xfrm>
          <a:prstGeom prst="roundRect">
            <a:avLst>
              <a:gd name="adj" fmla="val 6668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4700420" y="5274370"/>
            <a:ext cx="27909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1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</a:t>
            </a:r>
            <a:endParaRPr lang="en-US" sz="2150" dirty="0"/>
          </a:p>
        </p:txBody>
      </p:sp>
      <p:sp>
        <p:nvSpPr>
          <p:cNvPr id="18" name="Text 15"/>
          <p:cNvSpPr/>
          <p:nvPr/>
        </p:nvSpPr>
        <p:spPr>
          <a:xfrm>
            <a:off x="5232468" y="5303441"/>
            <a:ext cx="6304102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&amp; DevOps Mastery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232468" y="5777309"/>
            <a:ext cx="630410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Deploy on AWS EC2, containerize with Docker, and automate CI/CD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0256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Technology Stack</a:t>
            </a:r>
            <a:endParaRPr lang="en-US" sz="3700" dirty="0"/>
          </a:p>
        </p:txBody>
      </p:sp>
      <p:sp>
        <p:nvSpPr>
          <p:cNvPr id="3" name="Shape 1"/>
          <p:cNvSpPr/>
          <p:nvPr/>
        </p:nvSpPr>
        <p:spPr>
          <a:xfrm>
            <a:off x="661475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50482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450" y="2016125"/>
            <a:ext cx="255085" cy="25509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0482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&amp; Framework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0482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 · Spring Boot · Spring Security · Spring Data JPA · RESTful APIs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4347359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4536366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2334" y="2016125"/>
            <a:ext cx="255085" cy="25509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36366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&amp; Cloud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4536366" y="3024981"/>
            <a:ext cx="311886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PostgreSQL · AWS EC2</a:t>
            </a:r>
            <a:endParaRPr lang="en-US" sz="1450" dirty="0"/>
          </a:p>
        </p:txBody>
      </p:sp>
      <p:sp>
        <p:nvSpPr>
          <p:cNvPr id="13" name="Shape 9"/>
          <p:cNvSpPr/>
          <p:nvPr/>
        </p:nvSpPr>
        <p:spPr>
          <a:xfrm>
            <a:off x="8033244" y="1671241"/>
            <a:ext cx="3496877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0"/>
          <p:cNvSpPr/>
          <p:nvPr/>
        </p:nvSpPr>
        <p:spPr>
          <a:xfrm>
            <a:off x="8222251" y="1860252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78219" y="2016125"/>
            <a:ext cx="255085" cy="255091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2251" y="2616299"/>
            <a:ext cx="31188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DevOps &amp; Containers</a:t>
            </a:r>
            <a:endParaRPr lang="en-US" sz="1850" dirty="0"/>
          </a:p>
        </p:txBody>
      </p:sp>
      <p:sp>
        <p:nvSpPr>
          <p:cNvPr id="17" name="Text 12"/>
          <p:cNvSpPr/>
          <p:nvPr/>
        </p:nvSpPr>
        <p:spPr>
          <a:xfrm>
            <a:off x="8222251" y="3024981"/>
            <a:ext cx="311886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Docker · GitHub Actions · CI/CD · Git · Maven · Linux</a:t>
            </a:r>
            <a:endParaRPr lang="en-US" sz="1450" dirty="0"/>
          </a:p>
        </p:txBody>
      </p:sp>
      <p:sp>
        <p:nvSpPr>
          <p:cNvPr id="18" name="Shape 13"/>
          <p:cNvSpPr/>
          <p:nvPr/>
        </p:nvSpPr>
        <p:spPr>
          <a:xfrm>
            <a:off x="661475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850482" y="4196854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06450" y="4352727"/>
            <a:ext cx="255085" cy="255091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50482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Testing &amp; API Tools</a:t>
            </a:r>
            <a:endParaRPr lang="en-US" sz="1850" dirty="0"/>
          </a:p>
        </p:txBody>
      </p:sp>
      <p:sp>
        <p:nvSpPr>
          <p:cNvPr id="22" name="Text 16"/>
          <p:cNvSpPr/>
          <p:nvPr/>
        </p:nvSpPr>
        <p:spPr>
          <a:xfrm>
            <a:off x="850482" y="5361583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JUnit · Integration Testing · API Contract Testing · Postman</a:t>
            </a:r>
            <a:endParaRPr lang="en-US" sz="1450" dirty="0"/>
          </a:p>
        </p:txBody>
      </p:sp>
      <p:sp>
        <p:nvSpPr>
          <p:cNvPr id="23" name="Shape 17"/>
          <p:cNvSpPr/>
          <p:nvPr/>
        </p:nvSpPr>
        <p:spPr>
          <a:xfrm>
            <a:off x="6190301" y="4007842"/>
            <a:ext cx="5339820" cy="2147590"/>
          </a:xfrm>
          <a:prstGeom prst="roundRect">
            <a:avLst>
              <a:gd name="adj" fmla="val 1320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Shape 18"/>
          <p:cNvSpPr/>
          <p:nvPr/>
        </p:nvSpPr>
        <p:spPr>
          <a:xfrm>
            <a:off x="6379308" y="4196854"/>
            <a:ext cx="567021" cy="567035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535276" y="4352727"/>
            <a:ext cx="255085" cy="25509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379308" y="4952901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Project Management</a:t>
            </a:r>
            <a:endParaRPr lang="en-US" sz="1850" dirty="0"/>
          </a:p>
        </p:txBody>
      </p:sp>
      <p:sp>
        <p:nvSpPr>
          <p:cNvPr id="27" name="Text 20"/>
          <p:cNvSpPr/>
          <p:nvPr/>
        </p:nvSpPr>
        <p:spPr>
          <a:xfrm>
            <a:off x="6379308" y="5361583"/>
            <a:ext cx="49618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JIRA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578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Development &amp; REST API Engineering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578074"/>
            <a:ext cx="3518308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What Was Built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661475" y="2031206"/>
            <a:ext cx="3518308" cy="4180880"/>
          </a:xfrm>
          <a:prstGeom prst="rect">
            <a:avLst/>
          </a:prstGeom>
          <a:noFill/>
          <a:ln/>
        </p:spPr>
        <p:txBody>
          <a:bodyPr wrap="square" lIns="0" tIns="72063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15+ production-grade REST APIs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designed and deployed using Spring Boot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Implemented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centralized exception handling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input validation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all APIs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Maintained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consistent API response contracts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for reliable client integration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Applied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Domain-Driven Design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and clean engineering principles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Worked across </a:t>
            </a:r>
            <a:r>
              <a:rPr lang="en-US" sz="14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distributed service boundaries</a:t>
            </a:r>
            <a:r>
              <a:rPr lang="en-US" sz="14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reliable inter-service communication</a:t>
            </a:r>
            <a:endParaRPr lang="en-US" sz="1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5661" y="2257822"/>
            <a:ext cx="6910810" cy="31627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87866" y="2662297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Service Layer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87866" y="2907753"/>
            <a:ext cx="1685023" cy="29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Business logic and orchestration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809453" y="3701873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REST API Layer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789070" y="3947329"/>
            <a:ext cx="1549134" cy="298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Spring Boot controllers and validation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9687866" y="4313283"/>
            <a:ext cx="1528751" cy="19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Client 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687866" y="4558739"/>
            <a:ext cx="1685023" cy="1492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9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HTTP request to REST API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835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Optimization &amp; Performance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765102"/>
            <a:ext cx="2175019" cy="42019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75881" y="2546548"/>
            <a:ext cx="174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Challenge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75881" y="3030835"/>
            <a:ext cx="1746206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High database query latency was degrading backend response times and overall user experience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25501" y="1765102"/>
            <a:ext cx="2175118" cy="42019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39907" y="254654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Approach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3239907" y="3030835"/>
            <a:ext cx="1746306" cy="27217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Schema optimization, advanced indexing strategies, query execution plan analysis, and PostgreSQL best practices for distributed queries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9626" y="1765102"/>
            <a:ext cx="2175118" cy="42019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04032" y="2546548"/>
            <a:ext cx="17463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Result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5604032" y="3030835"/>
            <a:ext cx="1746306" cy="2419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~45% reduction in database query latency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with measurable improvement in backend throughput and user experience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32251" y="2113855"/>
            <a:ext cx="3504219" cy="35043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076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Deployment &amp; DevOps Pipeline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59434"/>
            <a:ext cx="5434373" cy="7560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482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Developer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850482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Code pushed to Git Repository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8" y="1659434"/>
            <a:ext cx="5434373" cy="75604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84854" y="2604492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GitHub Actions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284854" y="3013174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CI/CD pipeline triggered automatically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504605"/>
            <a:ext cx="5434373" cy="75604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0482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Docker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50482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Services containerized for consistent environments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5848" y="3504605"/>
            <a:ext cx="5434373" cy="75604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284854" y="4449663"/>
            <a:ext cx="5056359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AWS EC2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284854" y="4858345"/>
            <a:ext cx="505635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 backend deployed to cloud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661475" y="5562402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This automated workflow improved deployment efficiency, consistency, and significantly reduced manual intervention in production releases.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907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Reliability &amp; Quality Engineering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057797"/>
            <a:ext cx="3527734" cy="352782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0601" y="1503958"/>
            <a:ext cx="691587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Quality Embedded in the Development Lifecycle</a:t>
            </a:r>
            <a:endParaRPr lang="en-US" sz="17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01551" y="1937742"/>
            <a:ext cx="2190497" cy="20863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832924" y="1956792"/>
            <a:ext cx="1959124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Centralized Error Handling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4832924" y="2661741"/>
            <a:ext cx="195912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Standardized exception management across all distributed services</a:t>
            </a:r>
            <a:endParaRPr lang="en-US" sz="13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73713" y="1937742"/>
            <a:ext cx="2190497" cy="20863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7205085" y="1956792"/>
            <a:ext cx="195912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Input Validation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7205085" y="2389584"/>
            <a:ext cx="1959124" cy="8033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Comprehensive validation enforced at all API boundaries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45875" y="1937742"/>
            <a:ext cx="2190596" cy="20863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577247" y="1956792"/>
            <a:ext cx="1959224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Unit &amp; Integration Testing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9577247" y="2933898"/>
            <a:ext cx="195922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JUnit and integration tests ensuring code reliability at every layer</a:t>
            </a:r>
            <a:endParaRPr lang="en-US" sz="13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01551" y="4307284"/>
            <a:ext cx="6934919" cy="73868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832924" y="4326334"/>
            <a:ext cx="6703547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API Contract Testing</a:t>
            </a:r>
            <a:endParaRPr lang="en-US" sz="1700" dirty="0"/>
          </a:p>
        </p:txBody>
      </p:sp>
      <p:sp>
        <p:nvSpPr>
          <p:cNvPr id="16" name="Text 9"/>
          <p:cNvSpPr/>
          <p:nvPr/>
        </p:nvSpPr>
        <p:spPr>
          <a:xfrm>
            <a:off x="4832924" y="4759127"/>
            <a:ext cx="6703547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Verified contracts to prevent breaking changes across services</a:t>
            </a:r>
            <a:endParaRPr lang="en-US" sz="1350" dirty="0"/>
          </a:p>
        </p:txBody>
      </p:sp>
      <p:sp>
        <p:nvSpPr>
          <p:cNvPr id="17" name="Shape 10"/>
          <p:cNvSpPr/>
          <p:nvPr/>
        </p:nvSpPr>
        <p:spPr>
          <a:xfrm>
            <a:off x="4620601" y="5207595"/>
            <a:ext cx="6915870" cy="911820"/>
          </a:xfrm>
          <a:prstGeom prst="roundRect">
            <a:avLst>
              <a:gd name="adj" fmla="val 2867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4825" y="5449788"/>
            <a:ext cx="217780" cy="17422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86828" y="5395714"/>
            <a:ext cx="617541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~30% improvement in backend reliability</a:t>
            </a:r>
            <a:r>
              <a:rPr lang="en-US" sz="1350" dirty="0">
                <a:solidFill>
                  <a:srgbClr val="000000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across distributed service boundaries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3022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Performance &amp; Scale Metrics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93354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15+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2453283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REST APIs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2861965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Production-grade endpoints designed and deployed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6213915" y="1593354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10K+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6213915" y="2453283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Monthly Requests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213915" y="2861965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Served reliably across distributed services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61475" y="3636863"/>
            <a:ext cx="531620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45%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661475" y="449679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Latency Reduction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661475" y="490547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Achieved through database optimization and indexing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213915" y="3636863"/>
            <a:ext cx="5316305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9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30%</a:t>
            </a:r>
            <a:endParaRPr lang="en-US" sz="4900" dirty="0"/>
          </a:p>
        </p:txBody>
      </p:sp>
      <p:sp>
        <p:nvSpPr>
          <p:cNvPr id="13" name="Text 11"/>
          <p:cNvSpPr/>
          <p:nvPr/>
        </p:nvSpPr>
        <p:spPr>
          <a:xfrm>
            <a:off x="6213915" y="449679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85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Reliability Gain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6213915" y="4905474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Improvement in backend reliability via quality engineering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61475" y="5722938"/>
            <a:ext cx="1086874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These metrics reflect exposure to production-oriented concerns: </a:t>
            </a:r>
            <a:r>
              <a:rPr lang="en-US" sz="145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scalability, latency optimization, reliability, and fault isolation</a:t>
            </a: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in distributed systems.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140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Key Contributions &amp; Technical Learning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6345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66CC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Contributions</a:t>
            </a:r>
            <a:endParaRPr lang="en-US" sz="1850" dirty="0"/>
          </a:p>
        </p:txBody>
      </p:sp>
      <p:sp>
        <p:nvSpPr>
          <p:cNvPr id="4" name="Shape 2"/>
          <p:cNvSpPr/>
          <p:nvPr/>
        </p:nvSpPr>
        <p:spPr>
          <a:xfrm>
            <a:off x="661475" y="2246412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44936" y="2142430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REST API development and backend architecture design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229273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44936" y="3125291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Exception handling, input validation, and API contract reliability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61475" y="4212134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44936" y="4108152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PostgreSQL optimization and AWS EC2 deployment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61475" y="4892576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944936" y="4788595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Docker containerization and CI/CD pipeline implementation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61475" y="5875437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44936" y="5771455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Unit, integration, and API contract testing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32776" y="1634530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E40AF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Technical Learning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32776" y="2246412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616237" y="2142430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Production-grade backend architecture and scalable system design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332776" y="3229273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16237" y="3125291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Advanced database optimization and performance tuning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6332776" y="4212134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616237" y="4108152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Cloud deployment, containerization, and DevOps workflows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332776" y="5194995"/>
            <a:ext cx="94454" cy="94456"/>
          </a:xfrm>
          <a:prstGeom prst="ellipse">
            <a:avLst/>
          </a:prstGeom>
          <a:solidFill>
            <a:srgbClr val="3E251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616237" y="5091013"/>
            <a:ext cx="492033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Professional API design, testing, and reliability practices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2" y="485279"/>
            <a:ext cx="4415422" cy="58874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1082"/>
            <a:ext cx="6296860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201B18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Conclusion &amp; Career Impact</a:t>
            </a:r>
            <a:endParaRPr lang="en-US" sz="3050" dirty="0"/>
          </a:p>
        </p:txBody>
      </p:sp>
      <p:sp>
        <p:nvSpPr>
          <p:cNvPr id="5" name="Text 2"/>
          <p:cNvSpPr/>
          <p:nvPr/>
        </p:nvSpPr>
        <p:spPr>
          <a:xfrm>
            <a:off x="5233360" y="1244600"/>
            <a:ext cx="6296860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The internship transformed academic understanding of backend development into </a:t>
            </a: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practical experience with production-oriented software engineering</a:t>
            </a: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 — from API design to cloud deployment.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233360" y="2077045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389825" y="2233513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Backend Expertise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389825" y="2555776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Java, Spring Boot, and scalable REST API design at production scale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233360" y="3070721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389825" y="3227189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Cloud &amp; DevOps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389825" y="3549452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Hands-on AWS, Docker, and CI/CD automation in real workflows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233360" y="4064397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5389825" y="4220865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Database Performance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389825" y="4543127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Optimization and reliability engineering at scale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233360" y="5058073"/>
            <a:ext cx="6296860" cy="864096"/>
          </a:xfrm>
          <a:prstGeom prst="roundRect">
            <a:avLst>
              <a:gd name="adj" fmla="val 2717"/>
            </a:avLst>
          </a:prstGeom>
          <a:solidFill>
            <a:srgbClr val="F9F7F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389825" y="5214541"/>
            <a:ext cx="5983932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504C49"/>
                </a:solidFill>
                <a:latin typeface="Platypi Medium" pitchFamily="34" charset="0"/>
                <a:ea typeface="Platypi Medium" pitchFamily="34" charset="-122"/>
                <a:cs typeface="Platypi Medium" pitchFamily="34" charset="-120"/>
              </a:rPr>
              <a:t>Career Foundation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389825" y="5536803"/>
            <a:ext cx="5983932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504C49"/>
                </a:solidFill>
                <a:latin typeface="Source Serif 4" pitchFamily="34" charset="0"/>
                <a:ea typeface="Source Serif 4" pitchFamily="34" charset="-122"/>
                <a:cs typeface="Source Serif 4" pitchFamily="34" charset="-120"/>
              </a:rPr>
              <a:t>Strong base for backend, cloud, and distributed systems engineering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28568" y="6067921"/>
            <a:ext cx="6906444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504C49"/>
                </a:solidFill>
                <a:latin typeface="Source Serif 4 Bold" pitchFamily="34" charset="0"/>
                <a:ea typeface="Source Serif 4 Bold" pitchFamily="34" charset="-122"/>
                <a:cs typeface="Source Serif 4 Bold" pitchFamily="34" charset="-120"/>
              </a:rPr>
              <a:t>Thank You — Questions &amp; Discussion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734</Words>
  <Application>Microsoft Office PowerPoint</Application>
  <PresentationFormat>Widescreen</PresentationFormat>
  <Paragraphs>132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Platypi Medium</vt:lpstr>
      <vt:lpstr>Arial</vt:lpstr>
      <vt:lpstr>Source Serif 4 Bold</vt:lpstr>
      <vt:lpstr>Source Serif 4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Divyanshu Tiwari</dc:creator>
  <cp:lastModifiedBy>Harjit Singh</cp:lastModifiedBy>
  <cp:revision>4</cp:revision>
  <dcterms:created xsi:type="dcterms:W3CDTF">2026-08-30T14:52:15Z</dcterms:created>
  <dcterms:modified xsi:type="dcterms:W3CDTF">2026-09-08T18:49:58Z</dcterms:modified>
</cp:coreProperties>
</file>